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6A9AB5"/>
                </a:solidFill>
              </a:rPr>
              <a:t>Importance Distribution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 53,286 Articles</c:v>
                </c:pt>
              </c:strCache>
            </c:strRef>
          </c:tx>
          <c:spPr>
            <a:solidFill>
              <a:srgbClr val="3D6A8A"/>
            </a:solidFill>
          </c:spPr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Mid</c:v>
                </c:pt>
                <c:pt idx="2">
                  <c:v>High</c:v>
                </c:pt>
                <c:pt idx="3">
                  <c:v>Top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31</c:v>
                </c:pt>
                <c:pt idx="2">
                  <c:v>16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 100 by Score</c:v>
                </c:pt>
              </c:strCache>
            </c:strRef>
          </c:tx>
          <c:spPr>
            <a:solidFill>
              <a:srgbClr val="00C5D8"/>
            </a:solidFill>
          </c:spPr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Mid</c:v>
                </c:pt>
                <c:pt idx="2">
                  <c:v>High</c:v>
                </c:pt>
                <c:pt idx="3">
                  <c:v>Top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22</c:v>
                </c:pt>
                <c:pt idx="2">
                  <c:v>45</c:v>
                </c:pt>
                <c:pt idx="3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6A9AB5"/>
                </a:solidFill>
              </a:rPr>
              <a:t>Quality Distribution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 53,286 Articles</c:v>
                </c:pt>
              </c:strCache>
            </c:strRef>
          </c:tx>
          <c:spPr>
            <a:solidFill>
              <a:srgbClr val="3D6A8A"/>
            </a:solidFill>
          </c:spPr>
          <c:cat>
            <c:strRef>
              <c:f>Sheet1!$A$2:$A$6</c:f>
              <c:strCache>
                <c:ptCount val="5"/>
                <c:pt idx="0">
                  <c:v>Stub</c:v>
                </c:pt>
                <c:pt idx="1">
                  <c:v>Start</c:v>
                </c:pt>
                <c:pt idx="2">
                  <c:v>C</c:v>
                </c:pt>
                <c:pt idx="3">
                  <c:v>B</c:v>
                </c:pt>
                <c:pt idx="4">
                  <c:v>GA/FA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38</c:v>
                </c:pt>
                <c:pt idx="2">
                  <c:v>19</c:v>
                </c:pt>
                <c:pt idx="3">
                  <c:v>13</c:v>
                </c:pt>
                <c:pt idx="4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 100 by Score</c:v>
                </c:pt>
              </c:strCache>
            </c:strRef>
          </c:tx>
          <c:spPr>
            <a:solidFill>
              <a:srgbClr val="00C5D8"/>
            </a:solidFill>
          </c:spPr>
          <c:cat>
            <c:strRef>
              <c:f>Sheet1!$A$2:$A$6</c:f>
              <c:strCache>
                <c:ptCount val="5"/>
                <c:pt idx="0">
                  <c:v>Stub</c:v>
                </c:pt>
                <c:pt idx="1">
                  <c:v>Start</c:v>
                </c:pt>
                <c:pt idx="2">
                  <c:v>C</c:v>
                </c:pt>
                <c:pt idx="3">
                  <c:v>B</c:v>
                </c:pt>
                <c:pt idx="4">
                  <c:v>GA/FA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42</c:v>
                </c:pt>
                <c:pt idx="1">
                  <c:v>44</c:v>
                </c:pt>
                <c:pt idx="2">
                  <c:v>9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8141F"/>
          </a:solidFill>
          <a:ln w="9525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SC-HIA Â· BROWN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18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WikiMed Article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01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457200"/>
            <a:ext cx="5029200" cy="3200400"/>
          </a:xfrm>
          <a:prstGeom prst="rect">
            <a:avLst/>
          </a:prstGeom>
          <a:solidFill>
            <a:srgbClr val="00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RESEARCH PRESENTATION Â·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DCF0FA"/>
                </a:solidFill>
              </a:rPr>
              <a:t>WikiMed
Article
Recommender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A9AB5"/>
                </a:solidFill>
              </a:rPr>
              <a:t>A data-driven pipeline to identify the Wikipedia medical articles
that need student editors most  --  ranked by impact, attention, and clinical relevance.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57800"/>
            <a:ext cx="11338560" cy="2540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6A8A"/>
                </a:solidFill>
              </a:rPr>
              <a:t>PRESENTER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0FA"/>
                </a:solidFill>
              </a:rPr>
              <a:t>Zach Schneider-Lynch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349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6A8A"/>
                </a:solidFill>
              </a:rPr>
              <a:t>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577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AB5"/>
                </a:solidFill>
              </a:rPr>
              <a:t>SC-HIA Â· Brown Medical School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349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6A8A"/>
                </a:solidFill>
              </a:rPr>
              <a:t>MENTOR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577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0FA"/>
                </a:solidFill>
              </a:rPr>
              <a:t>Dr. Jeremy Warner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349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6A8A"/>
                </a:solidFill>
              </a:rPr>
              <a:t>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577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AB5"/>
                </a:solidFill>
              </a:rPr>
              <a:t>53,286 WikiProject Medicine articles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8141F"/>
          </a:solidFill>
          <a:ln w="9525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INTRODUCTION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18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WikiMed Article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F0FA"/>
                </a:solidFill>
              </a:rPr>
              <a:t>Wikipedia is where patients look first  -- 
but most medical articles are unfinished.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457200" cy="2540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AB5"/>
                </a:solidFill>
              </a:rPr>
              <a:t>  -  Wikipedia is the most-visited medical reference globally, used by ~70% of medical students and millions of patients before clinical encounters.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AB5"/>
                </a:solidFill>
              </a:rPr>
              <a:t>  -  WikiProject Medicine tracks 53,286 articles  --  yet over 60% remain at Stub or Start quality, with limited or poorly sourced content.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AB5"/>
                </a:solidFill>
              </a:rPr>
              <a:t>  -  WikiMed student editors lack a systematic way to prioritize which articles to improve. Without guidance, editing effort may miss the highest-impact targets.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AB5"/>
                </a:solidFill>
              </a:rPr>
              <a:t>  -  No existing tool combines public reach, editorial quality gaps, and clinical relevance into a single prioritization framework for volunteer editors.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858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914400"/>
            <a:ext cx="2743200" cy="109728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987552"/>
            <a:ext cx="24140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5D8"/>
                </a:solidFill>
              </a:rPr>
              <a:t>53,286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554480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WikiProject Medicine articles tracked across all of medical Wikipedia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103120"/>
            <a:ext cx="2743200" cy="109728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2176272"/>
            <a:ext cx="24140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8A42"/>
                </a:solidFill>
              </a:rPr>
              <a:t>&gt;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2743200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Articles rated Stub or Start  --  limited content, most room for improvement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91840"/>
            <a:ext cx="2743200" cy="109728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364992"/>
            <a:ext cx="24140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DBA8A"/>
                </a:solidFill>
              </a:rPr>
              <a:t>~70%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3931920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Of medical students who use Wikipedia as a clinical learning resource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480560"/>
            <a:ext cx="2743200" cy="109728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553712"/>
            <a:ext cx="24140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842"/>
                </a:solidFill>
              </a:rPr>
              <a:t>1B+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5120640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Annual pageviews across WikiProject Medicine articles (Wikipedia Clickstream)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8141F"/>
          </a:solidFill>
          <a:ln w="9525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RESEARCH AIMS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18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WikiMed Article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AIMS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5394960" cy="150876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6984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5D8"/>
                </a:solidFill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0515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F0FA"/>
                </a:solidFill>
              </a:rPr>
              <a:t>Build a reproducible scoring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53896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Develop composite scores combining public reach, quality deficits, and clinical relevance to rank all 53,286 WikiProject Medicine articles by editing priority.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24328"/>
            <a:ext cx="5394960" cy="150876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340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5D8"/>
                </a:solidFill>
              </a:rPr>
              <a:t>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157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F0FA"/>
                </a:solidFill>
              </a:rPr>
              <a:t>Create an accessible discovery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18104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Deploy a Streamlit dashboard enabling student editors to explore top articles by specialty, MeSH category, reading level, and real-time attention signal.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88536"/>
            <a:ext cx="5394960" cy="150876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39826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5D8"/>
                </a:solidFill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3799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F0FA"/>
                </a:solidFill>
              </a:rPr>
              <a:t>Validate against expert editorial judgment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782312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Confirm the Impact-Need Score surfaces articles independently rated as high-importance and low-quality by WikiProject Medicine volunteer editors.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6858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RESEARCH QUESTIONS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960120"/>
            <a:ext cx="38100" cy="150876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960120"/>
            <a:ext cx="5394960" cy="1508760"/>
          </a:xfrm>
          <a:prstGeom prst="rect">
            <a:avLst/>
          </a:prstGeom>
          <a:solidFill>
            <a:srgbClr val="051826"/>
          </a:solidFill>
          <a:ln w="6350">
            <a:solidFill>
              <a:srgbClr val="005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0698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5D8"/>
                </a:solidFill>
              </a:rPr>
              <a:t>RQ1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0515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AB5"/>
                </a:solidFill>
              </a:rPr>
              <a:t>Can a composite score combining pageviews, editorial quality, and clinical relevance produce a valid ranking of Wikipedia medical articles by editing priority?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624328"/>
            <a:ext cx="38100" cy="150876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2624328"/>
            <a:ext cx="5394960" cy="1508760"/>
          </a:xfrm>
          <a:prstGeom prst="rect">
            <a:avLst/>
          </a:prstGeom>
          <a:solidFill>
            <a:srgbClr val="051826"/>
          </a:solidFill>
          <a:ln w="6350">
            <a:solidFill>
              <a:srgbClr val="005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73405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5D8"/>
                </a:solidFill>
              </a:rPr>
              <a:t>RQ2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715768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AB5"/>
                </a:solidFill>
              </a:rPr>
              <a:t>Does the Impact-Need Score identify articles rated as high-importance but low-quality by WikiProject Medicine editors  --  confirming alignment with expert judgment?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288536"/>
            <a:ext cx="38100" cy="150876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4288536"/>
            <a:ext cx="5394960" cy="1508760"/>
          </a:xfrm>
          <a:prstGeom prst="rect">
            <a:avLst/>
          </a:prstGeom>
          <a:solidFill>
            <a:srgbClr val="051826"/>
          </a:solidFill>
          <a:ln w="6350">
            <a:solidFill>
              <a:srgbClr val="005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39826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5D8"/>
                </a:solidFill>
              </a:rPr>
              <a:t>RQ3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379976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9AB5"/>
                </a:solidFill>
              </a:rPr>
              <a:t>What is the achievable MeSH coverage across 53,286 articles using an automated 7-layer NLP cascade, and what does coverage reveal about specialty representation?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8141F"/>
          </a:solidFill>
          <a:ln w="9525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METHODS Â· PART 1 OF 2  -- 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18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WikiMed Article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AUTOMATED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783080" cy="68580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9611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6A8A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Article
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96012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D6A8A"/>
                </a:solidFill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40864" y="868680"/>
            <a:ext cx="1783080" cy="685800"/>
          </a:xfrm>
          <a:prstGeom prst="rect">
            <a:avLst/>
          </a:prstGeom>
          <a:solidFill>
            <a:srgbClr val="042635"/>
          </a:solidFill>
          <a:ln w="6350">
            <a:solidFill>
              <a:srgbClr val="00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2304" y="89611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5D8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10972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D8"/>
                </a:solidFill>
              </a:rPr>
              <a:t>Pageview &amp;
Editor Enrichment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96012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D6A8A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868680"/>
            <a:ext cx="1783080" cy="68580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89611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6A8A"/>
                </a:solidFill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10972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Quality &amp;
Importance Ratings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96012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D6A8A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868680"/>
            <a:ext cx="1783080" cy="685800"/>
          </a:xfrm>
          <a:prstGeom prst="rect">
            <a:avLst/>
          </a:prstGeom>
          <a:solidFill>
            <a:srgbClr val="042635"/>
          </a:solidFill>
          <a:ln w="6350">
            <a:solidFill>
              <a:srgbClr val="00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89611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5D8"/>
                </a:solidFill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10972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5D8"/>
                </a:solidFill>
              </a:rPr>
              <a:t>MeSH
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96012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D6A8A"/>
                </a:solidFill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91856" y="868680"/>
            <a:ext cx="1783080" cy="68580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89611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6A8A"/>
                </a:solidFill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10972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Score
Computation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3224" y="96012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D6A8A"/>
                </a:solidFill>
              </a:rPr>
              <a:t>-&gt;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868680"/>
            <a:ext cx="1783080" cy="68580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896112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6A8A"/>
                </a:solidFill>
              </a:rPr>
              <a:t>STEP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10972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Dashboard
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1755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DATA SOURCES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965960"/>
            <a:ext cx="5486400" cy="118872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" y="2130552"/>
            <a:ext cx="76200" cy="7620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2057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0FA"/>
                </a:solidFill>
              </a:rPr>
              <a:t>Wikipedia API (MediaWiki)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240487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53,286 article titles, lead sections, quality class, importance label, editor counts, inbound links, watcher counts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1965960"/>
            <a:ext cx="5486400" cy="118872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11112" y="2130552"/>
            <a:ext cx="76200" cy="7620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2057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0FA"/>
                </a:solidFill>
              </a:rPr>
              <a:t>Wikipedia Clickstream (May 2026)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40487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Per-article fraction of inbound clicks from external search vs. internal navigation  --  the search intent signal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319272"/>
            <a:ext cx="5486400" cy="118872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" y="3483864"/>
            <a:ext cx="76200" cy="7620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3410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0FA"/>
                </a:solidFill>
              </a:rPr>
              <a:t>NLM MeSH 2026 (desc2026.xml)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75818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61,794 MeSH descriptors with all entry term synonyms  --  vocabulary for relevance scoring and hierarchical expansion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3319272"/>
            <a:ext cx="5486400" cy="118872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11112" y="3483864"/>
            <a:ext cx="76200" cy="7620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3410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0FA"/>
                </a:solidFill>
              </a:rPr>
              <a:t>PubMed API (efetch)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3758184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MeSH tags from papers cited in each article; major-topic (2 pts) vs. minor-topic (1 pt) citation consensus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672583"/>
            <a:ext cx="5486400" cy="118872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" y="4837175"/>
            <a:ext cx="76200" cy="7620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764023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0FA"/>
                </a:solidFill>
              </a:rPr>
              <a:t>Wikidata SPARQL (P486)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111495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Human-curated MeSH Descriptor ID links  --  gold-standard Layer 1 of the MeSH assignment cascade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4672583"/>
            <a:ext cx="5486400" cy="118872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11112" y="4837175"/>
            <a:ext cx="76200" cy="7620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4764023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0FA"/>
                </a:solidFill>
              </a:rPr>
              <a:t>BioPortal Â· NCBI eSearch Â· NLM MTI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5111495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NLP annotators for articles without structured data  --  Layers 5 -- 7 of cascade (NLM MTI indexes PubMed itself)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3825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6A8A"/>
                </a:solidFill>
              </a:rPr>
              <a:t>Reading level: Flesch-Kincaid Grade Level (textstat) from cached article lead sections (&gt;=30 words). Rare disease flag: 13 Wikipedia categories, 1,285 articles.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8141F"/>
          </a:solidFill>
          <a:ln w="9525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METHODS Â· PART 2 OF 2  --  SCORING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18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WikiMed Article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THREE COMPLEMENTARY SCORES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3749039" cy="251460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68680"/>
            <a:ext cx="3749039" cy="3810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5D8"/>
                </a:solidFill>
              </a:rPr>
              <a:t>Impact-Need Score  Â·  0 -- 100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243584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F0FA"/>
                </a:solidFill>
              </a:rPr>
              <a:t>Primary ranking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536192"/>
            <a:ext cx="34747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Identifies articles with high public reach + low current quality.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029968"/>
            <a:ext cx="3419855" cy="320040"/>
          </a:xfrm>
          <a:prstGeom prst="rect">
            <a:avLst/>
          </a:prstGeom>
          <a:solidFill>
            <a:srgbClr val="051018"/>
          </a:solidFill>
          <a:ln w="6350">
            <a:solidFill>
              <a:srgbClr val="00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057400"/>
            <a:ext cx="32461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5D8"/>
                </a:solidFill>
              </a:rPr>
              <a:t>Ppv Ã—0.30  +  Nimp Ã—0.25  +  Nqd Ã—0.25  +  Pes Ã—0.10  +  Psi Ã—0.10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37744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6A8A"/>
                </a:solidFill>
              </a:rPr>
              <a:t>Pageview Â· Importance label Â· Quality deficit Â· Editor scarcity Â· Search intent (Clickstream)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544" y="868680"/>
            <a:ext cx="3749039" cy="251460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868680"/>
            <a:ext cx="3749039" cy="38100"/>
          </a:xfrm>
          <a:prstGeom prst="rect">
            <a:avLst/>
          </a:prstGeom>
          <a:solidFill>
            <a:srgbClr val="FF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932688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A42"/>
                </a:solidFill>
              </a:rPr>
              <a:t>Wiki Attention Score  Â·  0 -- 100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1243584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F0FA"/>
                </a:solidFill>
              </a:rPr>
              <a:t>Real-time momentum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1536192"/>
            <a:ext cx="34747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Measures how actively an article is being read and trending, independent of quality.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7136" y="2029968"/>
            <a:ext cx="3419855" cy="320040"/>
          </a:xfrm>
          <a:prstGeom prst="rect">
            <a:avLst/>
          </a:prstGeom>
          <a:solidFill>
            <a:srgbClr val="051018"/>
          </a:solidFill>
          <a:ln w="6350">
            <a:solidFill>
              <a:srgbClr val="FF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2057400"/>
            <a:ext cx="32461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8A42"/>
                </a:solidFill>
              </a:rPr>
              <a:t>Ppv Ã—0.45  +  Pvel Ã—0.20  +  Plinks Ã—0.20  +  Pwatch Ã—0.10  +  Pedit Ã—0.05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37744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6A8A"/>
                </a:solidFill>
              </a:rPr>
              <a:t>Pageview Â· 3-mo traffic velocity Â· Inbound links Â· Watcher count Â· Active editors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868680"/>
            <a:ext cx="3749039" cy="251460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7888" y="868680"/>
            <a:ext cx="3749039" cy="38100"/>
          </a:xfrm>
          <a:prstGeom prst="rect">
            <a:avLst/>
          </a:prstGeom>
          <a:solidFill>
            <a:srgbClr val="3DB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932688"/>
            <a:ext cx="3474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BA8A"/>
                </a:solidFill>
              </a:rPr>
              <a:t>Medical Relevance  Â·  1 -- 10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243584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F0FA"/>
                </a:solidFill>
              </a:rPr>
              <a:t>Clinical focus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536192"/>
            <a:ext cx="347471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Estimates how clinically focused an article is from text alone  --  catches biographical or historical articles under WikiProject Medicine scope.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029968"/>
            <a:ext cx="3419855" cy="320040"/>
          </a:xfrm>
          <a:prstGeom prst="rect">
            <a:avLst/>
          </a:prstGeom>
          <a:solidFill>
            <a:srgbClr val="051018"/>
          </a:solidFill>
          <a:ln w="6350">
            <a:solidFill>
              <a:srgbClr val="3DB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2057400"/>
            <a:ext cx="32461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BA8A"/>
                </a:solidFill>
              </a:rPr>
              <a:t>TF-IDF top-25 terms  †'  MeSH vocabulary match  Ã— 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37744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6A8A"/>
                </a:solidFill>
              </a:rPr>
              <a:t>Top 25 TF-IDF terms (unigrams + bigrams) vs. 61,794 NLM MeSH descriptors + all entry synonyms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4930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MESH ID ASSIGNMENT  --  7-LAYER CASCADE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703320"/>
            <a:ext cx="11274552" cy="395224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758184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6A8A"/>
                </a:solidFill>
              </a:rPr>
              <a:t>Layer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375818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CF0FA"/>
                </a:solidFill>
              </a:rPr>
              <a:t>Wikidata SPARQL (P486  --  MeSH Descriptor ID)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98480" y="3776472"/>
            <a:ext cx="868680" cy="256032"/>
          </a:xfrm>
          <a:prstGeom prst="rect">
            <a:avLst/>
          </a:prstGeom>
          <a:solidFill>
            <a:srgbClr val="051018"/>
          </a:solidFill>
          <a:ln w="6350">
            <a:solidFill>
              <a:srgbClr val="3DB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16768" y="37856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DBA8A"/>
                </a:solidFill>
              </a:rPr>
              <a:t>Exact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4622288920"/>
            <a:ext cx="11274552" cy="395224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84622343784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6A8A"/>
                </a:solidFill>
              </a:rPr>
              <a:t>Layer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38462234378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CF0FA"/>
                </a:solidFill>
              </a:rPr>
              <a:t>Wikipedia Infobox Wikitext (MeshID= / mesh= fields)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98480" y="384622362072"/>
            <a:ext cx="868680" cy="256032"/>
          </a:xfrm>
          <a:prstGeom prst="rect">
            <a:avLst/>
          </a:prstGeom>
          <a:solidFill>
            <a:srgbClr val="051018"/>
          </a:solidFill>
          <a:ln w="6350">
            <a:solidFill>
              <a:srgbClr val="3DB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16768" y="3846223712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DBA8A"/>
                </a:solidFill>
              </a:rPr>
              <a:t>Exact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769240874520"/>
            <a:ext cx="11274552" cy="395224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769240929384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6A8A"/>
                </a:solidFill>
              </a:rPr>
              <a:t>Layer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8448" y="76924092938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CF0FA"/>
                </a:solidFill>
              </a:rPr>
              <a:t>MeSH Full Synonym Matching (all entry terms in desc2026.xml)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98480" y="769240947672"/>
            <a:ext cx="868680" cy="256032"/>
          </a:xfrm>
          <a:prstGeom prst="rect">
            <a:avLst/>
          </a:prstGeom>
          <a:solidFill>
            <a:srgbClr val="051018"/>
          </a:solidFill>
          <a:ln w="6350">
            <a:solidFill>
              <a:srgbClr val="00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16768" y="7692409568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5D8"/>
                </a:solidFill>
              </a:rPr>
              <a:t>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1153859460120"/>
            <a:ext cx="11274552" cy="395224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1153859514984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6A8A"/>
                </a:solidFill>
              </a:rPr>
              <a:t>Layer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8448" y="115385951498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CF0FA"/>
                </a:solidFill>
              </a:rPr>
              <a:t>PubMed Citation Consensus (cited paper MeSH tags, majority vote)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98480" y="1153859533272"/>
            <a:ext cx="868680" cy="256032"/>
          </a:xfrm>
          <a:prstGeom prst="rect">
            <a:avLst/>
          </a:prstGeom>
          <a:solidFill>
            <a:srgbClr val="051018"/>
          </a:solidFill>
          <a:ln w="6350">
            <a:solidFill>
              <a:srgbClr val="00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16768" y="11538595424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5D8"/>
                </a:solidFill>
              </a:rPr>
              <a:t>High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1538478045720"/>
            <a:ext cx="11274552" cy="395224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538478100584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6A8A"/>
                </a:solidFill>
              </a:rPr>
              <a:t>Layer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98448" y="153847810058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CF0FA"/>
                </a:solidFill>
              </a:rPr>
              <a:t>BioPortal NLP Annotator (intro paragraph, MESH ontology)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98480" y="1538478118872"/>
            <a:ext cx="868680" cy="256032"/>
          </a:xfrm>
          <a:prstGeom prst="rect">
            <a:avLst/>
          </a:prstGeom>
          <a:solidFill>
            <a:srgbClr val="051018"/>
          </a:solidFill>
          <a:ln w="63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16768" y="15384781280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</a:rPr>
              <a:t>Medium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1923096631319"/>
            <a:ext cx="11274552" cy="395224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1923096686183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6A8A"/>
                </a:solidFill>
              </a:rPr>
              <a:t>Layer 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98448" y="1923096686183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CF0FA"/>
                </a:solidFill>
              </a:rPr>
              <a:t>NCBI MeSH eSearch (article title -&gt; Metathesaurus lookup)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98480" y="1923096704471"/>
            <a:ext cx="868680" cy="256032"/>
          </a:xfrm>
          <a:prstGeom prst="rect">
            <a:avLst/>
          </a:prstGeom>
          <a:solidFill>
            <a:srgbClr val="051018"/>
          </a:solidFill>
          <a:ln w="63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16768" y="1923096713615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C842"/>
                </a:solidFill>
              </a:rPr>
              <a:t>Medium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2307715216920"/>
            <a:ext cx="11274552" cy="395224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2307715271784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6A8A"/>
                </a:solidFill>
              </a:rPr>
              <a:t>Layer 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8448" y="2307715271784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CF0FA"/>
                </a:solidFill>
              </a:rPr>
              <a:t>NLM Medical Text Indexer (MTI)  --  same system used to index PubMed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98480" y="2307715290072"/>
            <a:ext cx="868680" cy="256032"/>
          </a:xfrm>
          <a:prstGeom prst="rect">
            <a:avLst/>
          </a:prstGeom>
          <a:solidFill>
            <a:srgbClr val="051018"/>
          </a:solidFill>
          <a:ln w="6350">
            <a:solidFill>
              <a:srgbClr val="FF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16768" y="23077152992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A42"/>
                </a:solidFill>
              </a:rPr>
              <a:t>Lower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8141F"/>
          </a:solidFill>
          <a:ln w="9525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ANTICIPATED RESULTS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18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WikiMed Article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VALIDATION AGAINST WIKIPROJECT MEDICINE RATINGS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868680"/>
          <a:ext cx="54864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3520440"/>
          <a:ext cx="548640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ANTICIPATED OUTCOMES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868680"/>
            <a:ext cx="44450" cy="109728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868680"/>
            <a:ext cx="5303520" cy="1097280"/>
          </a:xfrm>
          <a:prstGeom prst="rect">
            <a:avLst/>
          </a:prstGeom>
          <a:solidFill>
            <a:srgbClr val="051018"/>
          </a:solidFill>
          <a:ln w="6350">
            <a:solidFill>
              <a:srgbClr val="0A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92354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5D8"/>
                </a:solidFill>
              </a:rPr>
              <a:t>~82%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46304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MeSH descriptor coverage via 7-layer cascade  --  enabling specialty-level navigation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121408"/>
            <a:ext cx="44450" cy="109728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2121408"/>
            <a:ext cx="5303520" cy="1097280"/>
          </a:xfrm>
          <a:prstGeom prst="rect">
            <a:avLst/>
          </a:prstGeom>
          <a:solidFill>
            <a:srgbClr val="051018"/>
          </a:solidFill>
          <a:ln w="6350">
            <a:solidFill>
              <a:srgbClr val="0A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217627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5D8"/>
                </a:solidFill>
              </a:rPr>
              <a:t>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27157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Of top-100 articles rated High or Top importance by WikiProject Medicine editors (vs. 21% corpus-wide)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374136"/>
            <a:ext cx="44450" cy="1097280"/>
          </a:xfrm>
          <a:prstGeom prst="rect">
            <a:avLst/>
          </a:prstGeom>
          <a:solidFill>
            <a:srgbClr val="3DB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29400" y="3374136"/>
            <a:ext cx="5303520" cy="1097280"/>
          </a:xfrm>
          <a:prstGeom prst="rect">
            <a:avLst/>
          </a:prstGeom>
          <a:solidFill>
            <a:srgbClr val="051018"/>
          </a:solidFill>
          <a:ln w="6350">
            <a:solidFill>
              <a:srgbClr val="0A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3429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DBA8A"/>
                </a:solidFill>
              </a:rPr>
              <a:t>86%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96849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Of top-100 articles rated Stub or Start quality  --  most room to improve (vs. 60% corpus-wide)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626864"/>
            <a:ext cx="44450" cy="109728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4626864"/>
            <a:ext cx="5303520" cy="1097280"/>
          </a:xfrm>
          <a:prstGeom prst="rect">
            <a:avLst/>
          </a:prstGeom>
          <a:solidFill>
            <a:srgbClr val="051018"/>
          </a:solidFill>
          <a:ln w="6350">
            <a:solidFill>
              <a:srgbClr val="0A2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468172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842"/>
                </a:solidFill>
              </a:rPr>
              <a:t>47,319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522122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Articles with Flesch-Kincaid reading level computed  --  mean grade 14.4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5907024"/>
            <a:ext cx="5440680" cy="658368"/>
          </a:xfrm>
          <a:prstGeom prst="rect">
            <a:avLst/>
          </a:prstGeom>
          <a:solidFill>
            <a:srgbClr val="1A0C02"/>
          </a:solidFill>
          <a:ln w="6350">
            <a:solidFill>
              <a:srgbClr val="553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59801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A42"/>
                </a:solidFill>
              </a:rPr>
              <a:t>-&gt;  Live dashboard demonstration to follow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8141F"/>
          </a:solidFill>
          <a:ln w="9525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18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WikiMed Article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THREE-STAGE VALIDATION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6292" y="1102868"/>
            <a:ext cx="7516368" cy="25400"/>
          </a:xfrm>
          <a:prstGeom prst="rect">
            <a:avLst/>
          </a:prstGeom>
          <a:solidFill>
            <a:srgbClr val="3D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35124" y="914400"/>
            <a:ext cx="402336" cy="402336"/>
          </a:xfrm>
          <a:prstGeom prst="ellipse">
            <a:avLst/>
          </a:prstGeom>
          <a:solidFill>
            <a:srgbClr val="3DB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08141F"/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3758184" cy="507492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3758184" cy="38100"/>
          </a:xfrm>
          <a:prstGeom prst="rect">
            <a:avLst/>
          </a:prstGeom>
          <a:solidFill>
            <a:srgbClr val="3DB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591056"/>
            <a:ext cx="3483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DBA8A"/>
                </a:solidFill>
              </a:rP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47088"/>
            <a:ext cx="3483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6A8A"/>
                </a:solidFill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48256"/>
            <a:ext cx="3483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0FA"/>
                </a:solidFill>
              </a:rPr>
              <a:t>Formula Calibration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59736"/>
            <a:ext cx="3483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9AB5"/>
                </a:solidFill>
              </a:rPr>
              <a:t>July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2761488"/>
            <a:ext cx="3429000" cy="9525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" y="2889504"/>
            <a:ext cx="3429000" cy="1078992"/>
          </a:xfrm>
          <a:prstGeom prst="rect">
            <a:avLst/>
          </a:prstGeom>
          <a:solidFill>
            <a:srgbClr val="041814"/>
          </a:solidFill>
          <a:ln w="6350">
            <a:solidFill>
              <a:srgbClr val="3DB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17520"/>
            <a:ext cx="63500" cy="63500"/>
          </a:xfrm>
          <a:prstGeom prst="rect">
            <a:avLst/>
          </a:prstGeom>
          <a:solidFill>
            <a:srgbClr val="3DB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962656"/>
            <a:ext cx="307238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9AB5"/>
                </a:solidFill>
              </a:rPr>
              <a:t>84% of top-100 ranked articles rated Stub or Start quality -- formula correctly surfaces improvement-eligible articles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4041648"/>
            <a:ext cx="3429000" cy="1078992"/>
          </a:xfrm>
          <a:prstGeom prst="rect">
            <a:avLst/>
          </a:prstGeom>
          <a:solidFill>
            <a:srgbClr val="041814"/>
          </a:solidFill>
          <a:ln w="6350">
            <a:solidFill>
              <a:srgbClr val="3DB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169664"/>
            <a:ext cx="63500" cy="63500"/>
          </a:xfrm>
          <a:prstGeom prst="rect">
            <a:avLst/>
          </a:prstGeom>
          <a:solidFill>
            <a:srgbClr val="3DB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114800"/>
            <a:ext cx="307238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9AB5"/>
                </a:solidFill>
              </a:rPr>
              <a:t>14x enrichment of High/Top importance articles vs. full dataset baseline (30% vs. 2.2%)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5193792"/>
            <a:ext cx="3429000" cy="1078992"/>
          </a:xfrm>
          <a:prstGeom prst="rect">
            <a:avLst/>
          </a:prstGeom>
          <a:solidFill>
            <a:srgbClr val="041814"/>
          </a:solidFill>
          <a:ln w="6350">
            <a:solidFill>
              <a:srgbClr val="3DB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321808"/>
            <a:ext cx="63500" cy="63500"/>
          </a:xfrm>
          <a:prstGeom prst="rect">
            <a:avLst/>
          </a:prstGeom>
          <a:solidFill>
            <a:srgbClr val="3DB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266944"/>
            <a:ext cx="307238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9AB5"/>
                </a:solidFill>
              </a:rPr>
              <a:t>Pipeline confirmed working as designed -- note: quality &amp; importance are direct inputs (50% of formula); independent validity tested in Stages 2-3</a:t>
            </a:r>
          </a:p>
        </p:txBody>
      </p:sp>
      <p:sp>
        <p:nvSpPr>
          <p:cNvPr id="25" name="Oval 24"/>
          <p:cNvSpPr/>
          <p:nvPr/>
        </p:nvSpPr>
        <p:spPr>
          <a:xfrm>
            <a:off x="5893308" y="914400"/>
            <a:ext cx="402336" cy="402336"/>
          </a:xfrm>
          <a:prstGeom prst="ellipse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15384" y="1481328"/>
            <a:ext cx="3758184" cy="507492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15384" y="1481328"/>
            <a:ext cx="3758184" cy="38100"/>
          </a:xfrm>
          <a:prstGeom prst="rect">
            <a:avLst/>
          </a:prstGeom>
          <a:solidFill>
            <a:srgbClr val="00C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9976" y="1591056"/>
            <a:ext cx="3483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5D8"/>
                </a:solidFill>
              </a:rPr>
              <a:t>IN 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1847088"/>
            <a:ext cx="3483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6A8A"/>
                </a:solidFill>
              </a:rPr>
              <a:t>STAGE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9976" y="2048256"/>
            <a:ext cx="3483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0FA"/>
                </a:solidFill>
              </a:rPr>
              <a:t>Expert &amp; User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6" y="2459736"/>
            <a:ext cx="3483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9AB5"/>
                </a:solidFill>
              </a:rPr>
              <a:t>July to Early August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9976" y="2761488"/>
            <a:ext cx="3429000" cy="9525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79976" y="2889504"/>
            <a:ext cx="3429000" cy="1444752"/>
          </a:xfrm>
          <a:prstGeom prst="rect">
            <a:avLst/>
          </a:prstGeom>
          <a:solidFill>
            <a:srgbClr val="031822"/>
          </a:solidFill>
          <a:ln w="6350">
            <a:solidFill>
              <a:srgbClr val="00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1416" y="2980944"/>
            <a:ext cx="3255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5D8"/>
                </a:solidFill>
              </a:rPr>
              <a:t>PART 1  --  Science Librarians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1416" y="3236976"/>
            <a:ext cx="32552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Expert review of MeSH assignment methodology, search accuracy, and scoring logic validity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79976" y="4425696"/>
            <a:ext cx="3429000" cy="1444752"/>
          </a:xfrm>
          <a:prstGeom prst="rect">
            <a:avLst/>
          </a:prstGeom>
          <a:solidFill>
            <a:srgbClr val="031822"/>
          </a:solidFill>
          <a:ln w="6350">
            <a:solidFill>
              <a:srgbClr val="00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1416" y="4517136"/>
            <a:ext cx="3255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5D8"/>
                </a:solidFill>
              </a:rPr>
              <a:t>PART 2  --  Focus Group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1416" y="4773168"/>
            <a:ext cx="32552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AB5"/>
                </a:solidFill>
              </a:rPr>
              <a:t>Dashboard design feedback and usability testing from a student editor perspective</a:t>
            </a:r>
          </a:p>
        </p:txBody>
      </p:sp>
      <p:sp>
        <p:nvSpPr>
          <p:cNvPr id="39" name="Oval 38"/>
          <p:cNvSpPr/>
          <p:nvPr/>
        </p:nvSpPr>
        <p:spPr>
          <a:xfrm>
            <a:off x="9651492" y="914400"/>
            <a:ext cx="402336" cy="402336"/>
          </a:xfrm>
          <a:prstGeom prst="ellipse">
            <a:avLst/>
          </a:prstGeom>
          <a:noFill/>
          <a:ln w="25400">
            <a:solidFill>
              <a:srgbClr val="FF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73568" y="1481328"/>
            <a:ext cx="3758184" cy="5074920"/>
          </a:xfrm>
          <a:prstGeom prst="rect">
            <a:avLst/>
          </a:prstGeom>
          <a:solidFill>
            <a:srgbClr val="0E1E2D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73568" y="1481328"/>
            <a:ext cx="3758184" cy="38100"/>
          </a:xfrm>
          <a:prstGeom prst="rect">
            <a:avLst/>
          </a:prstGeom>
          <a:solidFill>
            <a:srgbClr val="FF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1591056"/>
            <a:ext cx="3483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8A42"/>
                </a:solidFill>
              </a:rPr>
              <a:t>UPCOMING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1847088"/>
            <a:ext cx="3483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6A8A"/>
                </a:solidFill>
              </a:rPr>
              <a:t>STAGE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2048256"/>
            <a:ext cx="3483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F0FA"/>
                </a:solidFill>
              </a:rPr>
              <a:t>WikiMed Student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2459736"/>
            <a:ext cx="3483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A9AB5"/>
                </a:solidFill>
              </a:rPr>
              <a:t>Mid-August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2761488"/>
            <a:ext cx="3429000" cy="9525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2889504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F0FA"/>
                </a:solidFill>
              </a:rPr>
              <a:t>Brown University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3352292"/>
            <a:ext cx="3429000" cy="9525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336499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F0FA"/>
                </a:solidFill>
              </a:rPr>
              <a:t>Vanderbilt University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3827780"/>
            <a:ext cx="3429000" cy="9525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384048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A9AB5"/>
                </a:solidFill>
              </a:rPr>
              <a:t>+ 4 additional medical schools (potential)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445312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6A8A"/>
                </a:solidFill>
              </a:rPr>
              <a:t>Real-world usage testing; editing outcomes tracked pre- and post-dashboard introduction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8141F"/>
          </a:solidFill>
          <a:ln w="9525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18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WikiMed Article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18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D6A8A"/>
                </a:solidFill>
              </a:rP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D8"/>
                </a:solidFill>
              </a:rPr>
              <a:t>KEY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5577840" cy="607568"/>
          </a:xfrm>
          <a:prstGeom prst="rect">
            <a:avLst/>
          </a:prstGeom>
          <a:solidFill>
            <a:srgbClr val="08141F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31750" cy="607568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8755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1. Heilman JM, et al. Wikipedia: a key tool for global public health promotion. J Med Internet Res. 2011;13(1):e14.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914400"/>
            <a:ext cx="5577840" cy="607568"/>
          </a:xfrm>
          <a:prstGeom prst="rect">
            <a:avLst/>
          </a:prstGeom>
          <a:solidFill>
            <a:srgbClr val="08141F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914400"/>
            <a:ext cx="31750" cy="607568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98755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2. Laurent MR, Vickers TJ. Seeking health information online: does Wikipedia matter? J Am Med Inform Assoc. 2009;16(4):471 -- 479.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02012613600"/>
            <a:ext cx="5577840" cy="607568"/>
          </a:xfrm>
          <a:prstGeom prst="rect">
            <a:avLst/>
          </a:prstGeom>
          <a:solidFill>
            <a:srgbClr val="08141F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602012613600"/>
            <a:ext cx="31750" cy="607568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0201268675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3. Reavley NJ, et al. Quality of information sources about mental disorders: a comparison of Wikipedia with controlled web and print sources. Psychol Med. 2012;42(8):1753 -- 1762.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602012613600"/>
            <a:ext cx="5577840" cy="607568"/>
          </a:xfrm>
          <a:prstGeom prst="rect">
            <a:avLst/>
          </a:prstGeom>
          <a:solidFill>
            <a:srgbClr val="08141F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602012613600"/>
            <a:ext cx="31750" cy="607568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60201268675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4. National Library of Medicine. Medical Subject Headings (MeSH) 2026 Descriptor File. Bethesda, MD: NLM; 2026.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204024312800"/>
            <a:ext cx="5577840" cy="607568"/>
          </a:xfrm>
          <a:prstGeom prst="rect">
            <a:avLst/>
          </a:prstGeom>
          <a:solidFill>
            <a:srgbClr val="08141F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204024312800"/>
            <a:ext cx="31750" cy="607568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120402438595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5. Noy NF, et al. BioPortal: ontologies and integrated data resources at the click of a mouse. Nucleic Acids Res. 2009;37(suppl 2):W170 -- W173.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1204024312800"/>
            <a:ext cx="5577840" cy="607568"/>
          </a:xfrm>
          <a:prstGeom prst="rect">
            <a:avLst/>
          </a:prstGeom>
          <a:solidFill>
            <a:srgbClr val="08141F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1204024312800"/>
            <a:ext cx="31750" cy="607568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11112" y="120402438595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6. Wikimedia Foundation. Wikipedia Clickstream. Wikimedia Research Data Repository; May 2026.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1806036012000"/>
            <a:ext cx="5577840" cy="607568"/>
          </a:xfrm>
          <a:prstGeom prst="rect">
            <a:avLst/>
          </a:prstGeom>
          <a:solidFill>
            <a:srgbClr val="08141F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1806036012000"/>
            <a:ext cx="31750" cy="607568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180603608515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7. Flesch R. A new readability yardstick. J Appl Psychol. 1948;32(3):221 -- 233.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806036012000"/>
            <a:ext cx="5577840" cy="607568"/>
          </a:xfrm>
          <a:prstGeom prst="rect">
            <a:avLst/>
          </a:prstGeom>
          <a:solidFill>
            <a:srgbClr val="08141F"/>
          </a:solidFill>
          <a:ln w="6350">
            <a:solidFill>
              <a:srgbClr val="1B3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6520" y="1806036012000"/>
            <a:ext cx="31750" cy="607568"/>
          </a:xfrm>
          <a:prstGeom prst="rect">
            <a:avLst/>
          </a:prstGeom>
          <a:solidFill>
            <a:srgbClr val="1B3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180603608515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AB5"/>
                </a:solidFill>
              </a:rPr>
              <a:t>8. Wikipedia. WikiProject Medicine. en.wikipedia.org/wiki/Wikipedia:WikiProject_Medicine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6A8A"/>
                </a:solidFill>
              </a:rPr>
              <a:t>Dashboard source code, scoring pipeline, and enrichment scripts available upon request. Data: Wikipedia API Â· Wikidata SPARQL Â· NLM MeSH 2026 Â· Wikipedia Clickstream Â· PubMed API Â· BioPortal Â· NCBI eSearch Â· NLM MTI.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